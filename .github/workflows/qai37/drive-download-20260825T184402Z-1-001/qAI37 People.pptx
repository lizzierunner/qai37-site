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11.jpg" ContentType="image/jpeg"/>
  <Override PartName="/ppt/media/image12.jpg" ContentType="image/jpeg"/>
  <Override PartName="/ppt/media/image13.jpg" ContentType="image/jpeg"/>
  <Override PartName="/ppt/media/image14.jpg" ContentType="image/jpeg"/>
  <Override PartName="/ppt/media/image15.jpg" ContentType="image/jpeg"/>
  <Override PartName="/ppt/media/image16.jpg" ContentType="image/jpeg"/>
  <Override PartName="/ppt/media/image17.jpg" ContentType="image/jpeg"/>
  <Override PartName="/ppt/media/image18.jpg" ContentType="image/jpeg"/>
  <Override PartName="/ppt/media/image19.jpg" ContentType="image/jpeg"/>
  <Override PartName="/ppt/media/image20.jpg" ContentType="image/jpe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85" r:id="rId2"/>
    <p:sldId id="288" r:id="rId3"/>
    <p:sldId id="272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2" autoAdjust="0"/>
    <p:restoredTop sz="94660"/>
  </p:normalViewPr>
  <p:slideViewPr>
    <p:cSldViewPr snapToGrid="0">
      <p:cViewPr varScale="1">
        <p:scale>
          <a:sx n="72" d="100"/>
          <a:sy n="72" d="100"/>
        </p:scale>
        <p:origin x="80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948217-0C80-42C4-8964-B79F713E7D8C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0B7852-5879-4EE6-83AD-D8B311F2A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906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60D42-A118-7C3F-D9D1-41FE200F3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253D5E-F0FA-3116-11D0-AB97443FCF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2FF9B6-8365-14A5-4E80-97D8A316D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3E2DF2-C73A-291C-865C-2BA1834697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969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1205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12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8167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2817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g"/><Relationship Id="rId3" Type="http://schemas.openxmlformats.org/officeDocument/2006/relationships/image" Target="../media/image12.jpg"/><Relationship Id="rId7" Type="http://schemas.openxmlformats.org/officeDocument/2006/relationships/image" Target="../media/image16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jpg"/><Relationship Id="rId11" Type="http://schemas.openxmlformats.org/officeDocument/2006/relationships/image" Target="../media/image20.jpg"/><Relationship Id="rId5" Type="http://schemas.openxmlformats.org/officeDocument/2006/relationships/image" Target="../media/image14.jpg"/><Relationship Id="rId10" Type="http://schemas.openxmlformats.org/officeDocument/2006/relationships/image" Target="../media/image19.jpg"/><Relationship Id="rId4" Type="http://schemas.openxmlformats.org/officeDocument/2006/relationships/image" Target="../media/image13.jpg"/><Relationship Id="rId9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9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99" y="426720"/>
            <a:ext cx="8115631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defRPr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qAI37 Core Team Details (Page 1 of 2)</a:t>
            </a:r>
            <a:endParaRPr lang="en-US" sz="3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09600" y="1280160"/>
            <a:ext cx="3572256" cy="2255520"/>
          </a:xfrm>
          <a:prstGeom prst="roundRect">
            <a:avLst>
              <a:gd name="adj" fmla="val 3784"/>
            </a:avLst>
          </a:prstGeom>
          <a:solidFill>
            <a:srgbClr val="121A2E"/>
          </a:solidFill>
          <a:ln/>
        </p:spPr>
        <p:txBody>
          <a:bodyPr/>
          <a:lstStyle/>
          <a:p>
            <a:pPr defTabSz="1219170">
              <a:defRPr/>
            </a:pPr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2480" y="1438656"/>
            <a:ext cx="1048512" cy="1048512"/>
          </a:xfrm>
          <a:prstGeom prst="roundRect">
            <a:avLst>
              <a:gd name="adj" fmla="val 6977"/>
            </a:avLst>
          </a:prstGeom>
          <a:solidFill>
            <a:srgbClr val="161F3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pPr defTabSz="1219170">
              <a:defRPr/>
            </a:pPr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0" descr="images/headshots/ted_b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864" y="1463040"/>
            <a:ext cx="999744" cy="999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14144" y="1686836"/>
            <a:ext cx="20970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lnSpc>
                <a:spcPts val="1933"/>
              </a:lnSpc>
              <a:defRPr/>
            </a:pPr>
            <a:r>
              <a:rPr lang="en-US" sz="166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Ted Stockwell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4"/>
          <p:cNvSpPr/>
          <p:nvPr/>
        </p:nvSpPr>
        <p:spPr>
          <a:xfrm>
            <a:off x="658368" y="2572512"/>
            <a:ext cx="323088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lnSpc>
                <a:spcPts val="1600"/>
              </a:lnSpc>
              <a:defRPr/>
            </a:pPr>
            <a:r>
              <a:rPr lang="en-US" sz="1267" dirty="0">
                <a:solidFill>
                  <a:srgbClr val="00E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CEO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5"/>
          <p:cNvSpPr/>
          <p:nvPr/>
        </p:nvSpPr>
        <p:spPr>
          <a:xfrm>
            <a:off x="647143" y="2936572"/>
            <a:ext cx="3230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lnSpc>
                <a:spcPts val="1533"/>
              </a:lnSpc>
              <a:defRPr/>
            </a:pPr>
            <a:r>
              <a:rPr lang="en-US" sz="12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Former GM, Microsoft Online Services Division. Built Bing as a Platform. Founded qAI37 in 2022.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303776" y="1280160"/>
            <a:ext cx="3572256" cy="2255520"/>
          </a:xfrm>
          <a:prstGeom prst="roundRect">
            <a:avLst>
              <a:gd name="adj" fmla="val 3784"/>
            </a:avLst>
          </a:prstGeom>
          <a:solidFill>
            <a:srgbClr val="121A2E"/>
          </a:solidFill>
          <a:ln/>
        </p:spPr>
        <p:txBody>
          <a:bodyPr/>
          <a:lstStyle/>
          <a:p>
            <a:pPr defTabSz="1219170">
              <a:defRPr/>
            </a:pPr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486656" y="1438656"/>
            <a:ext cx="1048512" cy="1048512"/>
          </a:xfrm>
          <a:prstGeom prst="roundRect">
            <a:avLst>
              <a:gd name="adj" fmla="val 6977"/>
            </a:avLst>
          </a:prstGeom>
          <a:solidFill>
            <a:srgbClr val="161F3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pPr defTabSz="1219170">
              <a:defRPr/>
            </a:pPr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1" name="Image 1" descr="images/headshots/michelle_bw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1040" y="1463040"/>
            <a:ext cx="999744" cy="999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44896" y="1487424"/>
            <a:ext cx="2231136" cy="1048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lnSpc>
                <a:spcPts val="1933"/>
              </a:lnSpc>
              <a:defRPr/>
            </a:pPr>
            <a:r>
              <a:rPr lang="en-US" sz="166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Michelle Holtmann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333808" y="2548128"/>
            <a:ext cx="323088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lnSpc>
                <a:spcPts val="1600"/>
              </a:lnSpc>
              <a:defRPr/>
            </a:pPr>
            <a:r>
              <a:rPr lang="en-US" sz="1267" dirty="0">
                <a:solidFill>
                  <a:srgbClr val="00E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President &amp; Chief Strategy Officer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333808" y="2929903"/>
            <a:ext cx="3468107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lnSpc>
                <a:spcPts val="1533"/>
              </a:lnSpc>
              <a:defRPr/>
            </a:pPr>
            <a:r>
              <a:rPr lang="en-US" sz="12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Former GM, Microsoft; designed Software Protection Platform, former software engineer Boeing </a:t>
            </a:r>
            <a:r>
              <a:rPr lang="en-US" sz="1200" dirty="0">
                <a:solidFill>
                  <a:srgbClr val="7A82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</a:t>
            </a:r>
            <a:r>
              <a:rPr lang="en-US" sz="12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Airplane Group.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7997952" y="1280160"/>
            <a:ext cx="3572256" cy="2255520"/>
          </a:xfrm>
          <a:prstGeom prst="roundRect">
            <a:avLst>
              <a:gd name="adj" fmla="val 3784"/>
            </a:avLst>
          </a:prstGeom>
          <a:solidFill>
            <a:srgbClr val="121A2E"/>
          </a:solidFill>
          <a:ln/>
        </p:spPr>
        <p:txBody>
          <a:bodyPr/>
          <a:lstStyle/>
          <a:p>
            <a:pPr defTabSz="1219170">
              <a:defRPr/>
            </a:pPr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8180832" y="1438656"/>
            <a:ext cx="1048512" cy="1048512"/>
          </a:xfrm>
          <a:prstGeom prst="roundRect">
            <a:avLst>
              <a:gd name="adj" fmla="val 6977"/>
            </a:avLst>
          </a:prstGeom>
          <a:solidFill>
            <a:srgbClr val="161F3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pPr defTabSz="1219170">
              <a:defRPr/>
            </a:pPr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7" name="Image 2" descr="images/headshots/vicki_bw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5216" y="1463040"/>
            <a:ext cx="999744" cy="999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326880" y="1481087"/>
            <a:ext cx="2097024" cy="1048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lnSpc>
                <a:spcPts val="1933"/>
              </a:lnSpc>
              <a:defRPr/>
            </a:pPr>
            <a:r>
              <a:rPr lang="en-US" sz="166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Vicki Mitchell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8070621" y="2544477"/>
            <a:ext cx="323088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lnSpc>
                <a:spcPts val="1600"/>
              </a:lnSpc>
              <a:defRPr/>
            </a:pPr>
            <a:r>
              <a:rPr lang="en-US" sz="1267" dirty="0">
                <a:solidFill>
                  <a:srgbClr val="00E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Engineering Officer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8070621" y="2921533"/>
            <a:ext cx="3499587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lnSpc>
                <a:spcPts val="1533"/>
              </a:lnSpc>
              <a:defRPr/>
            </a:pPr>
            <a:r>
              <a:rPr lang="en-US" sz="12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Former VP Engineering, Google, ARM, Altera. Designed ARM's instruction sets; built configurable hardware at Altera.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609600" y="3706368"/>
            <a:ext cx="3572256" cy="2255520"/>
          </a:xfrm>
          <a:prstGeom prst="roundRect">
            <a:avLst>
              <a:gd name="adj" fmla="val 3784"/>
            </a:avLst>
          </a:prstGeom>
          <a:solidFill>
            <a:srgbClr val="121A2E"/>
          </a:solidFill>
          <a:ln/>
        </p:spPr>
        <p:txBody>
          <a:bodyPr/>
          <a:lstStyle/>
          <a:p>
            <a:pPr defTabSz="1219170">
              <a:defRPr/>
            </a:pPr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792480" y="3864864"/>
            <a:ext cx="1048512" cy="1048512"/>
          </a:xfrm>
          <a:prstGeom prst="roundRect">
            <a:avLst>
              <a:gd name="adj" fmla="val 6977"/>
            </a:avLst>
          </a:prstGeom>
          <a:solidFill>
            <a:srgbClr val="161F3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pPr defTabSz="1219170">
              <a:defRPr/>
            </a:pPr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3" name="Image 3" descr="images/headshots/steve_bw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864" y="3889248"/>
            <a:ext cx="999744" cy="99974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926336" y="3950208"/>
            <a:ext cx="2097024" cy="1048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lnSpc>
                <a:spcPts val="1933"/>
              </a:lnSpc>
              <a:defRPr/>
            </a:pPr>
            <a:r>
              <a:rPr lang="en-US" sz="166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Steve Jahnke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661743" y="4989765"/>
            <a:ext cx="3756032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lnSpc>
                <a:spcPts val="1600"/>
              </a:lnSpc>
              <a:defRPr/>
            </a:pPr>
            <a:r>
              <a:rPr lang="en-US" sz="1267" dirty="0">
                <a:solidFill>
                  <a:srgbClr val="00E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Technical Officer &amp; Principal Architect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658368" y="5291603"/>
            <a:ext cx="3230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lnSpc>
                <a:spcPts val="1533"/>
              </a:lnSpc>
              <a:defRPr/>
            </a:pPr>
            <a:r>
              <a:rPr lang="en-US" sz="12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years, Intel, Altera, TI. 24 patents. Owns Translation Layer &amp; HAL architectures.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1"/>
          <p:cNvSpPr/>
          <p:nvPr/>
        </p:nvSpPr>
        <p:spPr>
          <a:xfrm>
            <a:off x="4303776" y="3706368"/>
            <a:ext cx="3572256" cy="2255520"/>
          </a:xfrm>
          <a:prstGeom prst="roundRect">
            <a:avLst>
              <a:gd name="adj" fmla="val 3784"/>
            </a:avLst>
          </a:prstGeom>
          <a:solidFill>
            <a:srgbClr val="121A2E"/>
          </a:solidFill>
          <a:ln/>
        </p:spPr>
        <p:txBody>
          <a:bodyPr/>
          <a:lstStyle/>
          <a:p>
            <a:pPr defTabSz="1219170">
              <a:defRPr/>
            </a:pPr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2"/>
          <p:cNvSpPr/>
          <p:nvPr/>
        </p:nvSpPr>
        <p:spPr>
          <a:xfrm>
            <a:off x="4486656" y="3864864"/>
            <a:ext cx="1048512" cy="1048512"/>
          </a:xfrm>
          <a:prstGeom prst="roundRect">
            <a:avLst>
              <a:gd name="adj" fmla="val 6977"/>
            </a:avLst>
          </a:prstGeom>
          <a:solidFill>
            <a:srgbClr val="161F3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pPr defTabSz="1219170">
              <a:defRPr/>
            </a:pPr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9" name="Image 4" descr="images/headshots/vincent_bw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1040" y="3889248"/>
            <a:ext cx="999744" cy="99974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644896" y="3882980"/>
            <a:ext cx="2097024" cy="1048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lnSpc>
                <a:spcPts val="1933"/>
              </a:lnSpc>
              <a:defRPr/>
            </a:pPr>
            <a:r>
              <a:rPr lang="en-US" sz="166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Vincent Elfving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4"/>
          <p:cNvSpPr/>
          <p:nvPr/>
        </p:nvSpPr>
        <p:spPr>
          <a:xfrm>
            <a:off x="4417775" y="4998720"/>
            <a:ext cx="323088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lnSpc>
                <a:spcPts val="1600"/>
              </a:lnSpc>
              <a:defRPr/>
            </a:pPr>
            <a:r>
              <a:rPr lang="en-US" sz="1267" dirty="0">
                <a:solidFill>
                  <a:srgbClr val="00E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Quantum Advisor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25"/>
          <p:cNvSpPr/>
          <p:nvPr/>
        </p:nvSpPr>
        <p:spPr>
          <a:xfrm>
            <a:off x="4417775" y="5173403"/>
            <a:ext cx="3230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lnSpc>
                <a:spcPts val="1533"/>
              </a:lnSpc>
              <a:defRPr/>
            </a:pP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26"/>
          <p:cNvSpPr/>
          <p:nvPr/>
        </p:nvSpPr>
        <p:spPr>
          <a:xfrm>
            <a:off x="7997952" y="3706368"/>
            <a:ext cx="3572256" cy="2255520"/>
          </a:xfrm>
          <a:prstGeom prst="roundRect">
            <a:avLst>
              <a:gd name="adj" fmla="val 3784"/>
            </a:avLst>
          </a:prstGeom>
          <a:solidFill>
            <a:srgbClr val="121A2E"/>
          </a:solidFill>
          <a:ln/>
        </p:spPr>
        <p:txBody>
          <a:bodyPr/>
          <a:lstStyle/>
          <a:p>
            <a:pPr defTabSz="1219170">
              <a:defRPr/>
            </a:pPr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27"/>
          <p:cNvSpPr/>
          <p:nvPr/>
        </p:nvSpPr>
        <p:spPr>
          <a:xfrm>
            <a:off x="8180832" y="3864864"/>
            <a:ext cx="1048512" cy="1048512"/>
          </a:xfrm>
          <a:prstGeom prst="roundRect">
            <a:avLst>
              <a:gd name="adj" fmla="val 6977"/>
            </a:avLst>
          </a:prstGeom>
          <a:solidFill>
            <a:srgbClr val="161F3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pPr defTabSz="1219170">
              <a:defRPr/>
            </a:pPr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5" name="Image 5" descr="images/headshots/laverne_bw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5216" y="3889248"/>
            <a:ext cx="999744" cy="999744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9339072" y="3950208"/>
            <a:ext cx="2097024" cy="1048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lnSpc>
                <a:spcPts val="1933"/>
              </a:lnSpc>
              <a:defRPr/>
            </a:pPr>
            <a:r>
              <a:rPr lang="en-US" sz="166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Laverne Masaki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29"/>
          <p:cNvSpPr/>
          <p:nvPr/>
        </p:nvSpPr>
        <p:spPr>
          <a:xfrm>
            <a:off x="8070621" y="4956048"/>
            <a:ext cx="323088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lnSpc>
                <a:spcPts val="1600"/>
              </a:lnSpc>
              <a:defRPr/>
            </a:pPr>
            <a:r>
              <a:rPr lang="en-US" sz="1267" dirty="0">
                <a:solidFill>
                  <a:srgbClr val="00E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People Officer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0"/>
          <p:cNvSpPr/>
          <p:nvPr/>
        </p:nvSpPr>
        <p:spPr>
          <a:xfrm>
            <a:off x="8070621" y="5273040"/>
            <a:ext cx="3230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lnSpc>
                <a:spcPts val="1533"/>
              </a:lnSpc>
              <a:defRPr/>
            </a:pPr>
            <a:r>
              <a:rPr lang="en-US" sz="12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Former executive recruiter, Microsoft and Google.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2"/>
          <p:cNvSpPr/>
          <p:nvPr/>
        </p:nvSpPr>
        <p:spPr>
          <a:xfrm>
            <a:off x="487680" y="6486144"/>
            <a:ext cx="24384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defRPr/>
            </a:pPr>
            <a:r>
              <a:rPr lang="en-US" sz="12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qAI37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5">
            <a:extLst>
              <a:ext uri="{FF2B5EF4-FFF2-40B4-BE49-F238E27FC236}">
                <a16:creationId xmlns:a16="http://schemas.microsoft.com/office/drawing/2014/main" id="{A7DDBD71-CCC2-3487-81DA-AA93052BEE4A}"/>
              </a:ext>
            </a:extLst>
          </p:cNvPr>
          <p:cNvSpPr/>
          <p:nvPr/>
        </p:nvSpPr>
        <p:spPr>
          <a:xfrm>
            <a:off x="4417775" y="5352943"/>
            <a:ext cx="3230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lnSpc>
                <a:spcPts val="1533"/>
              </a:lnSpc>
              <a:defRPr/>
            </a:pPr>
            <a:r>
              <a:rPr lang="en-US" sz="1200" dirty="0">
                <a:solidFill>
                  <a:srgbClr val="7A829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Former Head of Algorithms, </a:t>
            </a:r>
            <a:r>
              <a:rPr lang="en-US" sz="1200" dirty="0" err="1">
                <a:solidFill>
                  <a:srgbClr val="7A829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Pasqal</a:t>
            </a:r>
            <a:r>
              <a:rPr lang="en-US" sz="1200" dirty="0">
                <a:solidFill>
                  <a:srgbClr val="7A829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(40+ researchers); PhD, Quantum Information Processing; Google Quantum AI alumnus.</a:t>
            </a:r>
          </a:p>
        </p:txBody>
      </p:sp>
      <p:sp>
        <p:nvSpPr>
          <p:cNvPr id="43" name="Text 0">
            <a:extLst>
              <a:ext uri="{FF2B5EF4-FFF2-40B4-BE49-F238E27FC236}">
                <a16:creationId xmlns:a16="http://schemas.microsoft.com/office/drawing/2014/main" id="{70ADD76A-968C-7617-84EC-A6F6DBD280AA}"/>
              </a:ext>
            </a:extLst>
          </p:cNvPr>
          <p:cNvSpPr/>
          <p:nvPr/>
        </p:nvSpPr>
        <p:spPr>
          <a:xfrm>
            <a:off x="768096" y="146959"/>
            <a:ext cx="487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B4BE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Text 12">
            <a:extLst>
              <a:ext uri="{FF2B5EF4-FFF2-40B4-BE49-F238E27FC236}">
                <a16:creationId xmlns:a16="http://schemas.microsoft.com/office/drawing/2014/main" id="{629B447B-E0D4-79EA-EDD4-CD08C247658B}"/>
              </a:ext>
            </a:extLst>
          </p:cNvPr>
          <p:cNvSpPr/>
          <p:nvPr/>
        </p:nvSpPr>
        <p:spPr>
          <a:xfrm>
            <a:off x="9290304" y="6437376"/>
            <a:ext cx="2438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dirty="0">
                <a:solidFill>
                  <a:srgbClr val="B4BE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A7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9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70496A-F3D6-DD03-8959-BCBD01129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626E677-7D71-77AF-F610-00430B6F0054}"/>
              </a:ext>
            </a:extLst>
          </p:cNvPr>
          <p:cNvSpPr/>
          <p:nvPr/>
        </p:nvSpPr>
        <p:spPr>
          <a:xfrm>
            <a:off x="609600" y="426720"/>
            <a:ext cx="8348869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defRPr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qAI37 Core Team Details (Page 2 of 2)</a:t>
            </a:r>
            <a:endParaRPr lang="en-US" sz="3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17F831B-8AA8-68C2-B3C1-DD8FF4920B26}"/>
              </a:ext>
            </a:extLst>
          </p:cNvPr>
          <p:cNvSpPr/>
          <p:nvPr/>
        </p:nvSpPr>
        <p:spPr>
          <a:xfrm>
            <a:off x="609600" y="1280160"/>
            <a:ext cx="3572256" cy="2255520"/>
          </a:xfrm>
          <a:prstGeom prst="roundRect">
            <a:avLst>
              <a:gd name="adj" fmla="val 3784"/>
            </a:avLst>
          </a:prstGeom>
          <a:solidFill>
            <a:srgbClr val="121A2E"/>
          </a:solidFill>
          <a:ln/>
        </p:spPr>
        <p:txBody>
          <a:bodyPr/>
          <a:lstStyle/>
          <a:p>
            <a:pPr defTabSz="1219170">
              <a:defRPr/>
            </a:pPr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58EF098-9339-5BED-89A6-5ECA18172A71}"/>
              </a:ext>
            </a:extLst>
          </p:cNvPr>
          <p:cNvSpPr/>
          <p:nvPr/>
        </p:nvSpPr>
        <p:spPr>
          <a:xfrm>
            <a:off x="792480" y="1438656"/>
            <a:ext cx="1048512" cy="1048512"/>
          </a:xfrm>
          <a:prstGeom prst="roundRect">
            <a:avLst>
              <a:gd name="adj" fmla="val 6977"/>
            </a:avLst>
          </a:prstGeom>
          <a:solidFill>
            <a:srgbClr val="161F3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pPr defTabSz="1219170">
              <a:defRPr/>
            </a:pPr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1" name="Image Rupesh" descr="images/headshots/rupesh_b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864" y="1463040"/>
            <a:ext cx="999744" cy="999744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BCD12464-B9DC-DC7F-740A-A7C799A3D7A9}"/>
              </a:ext>
            </a:extLst>
          </p:cNvPr>
          <p:cNvSpPr/>
          <p:nvPr/>
        </p:nvSpPr>
        <p:spPr>
          <a:xfrm>
            <a:off x="1914144" y="1686836"/>
            <a:ext cx="20970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lnSpc>
                <a:spcPts val="1933"/>
              </a:lnSpc>
              <a:defRPr/>
            </a:pPr>
            <a:r>
              <a:rPr lang="en-US" sz="166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Rupesh Srivastava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EB3BE64-8983-6665-A31A-3AF2CB1A9BF2}"/>
              </a:ext>
            </a:extLst>
          </p:cNvPr>
          <p:cNvSpPr/>
          <p:nvPr/>
        </p:nvSpPr>
        <p:spPr>
          <a:xfrm>
            <a:off x="658368" y="2572512"/>
            <a:ext cx="323088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lnSpc>
                <a:spcPts val="1600"/>
              </a:lnSpc>
              <a:defRPr/>
            </a:pPr>
            <a:r>
              <a:rPr lang="en-US" sz="1267" dirty="0">
                <a:solidFill>
                  <a:srgbClr val="00E5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Quantum Advisor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E1BD4C8-7706-9730-C33E-4F4D4DC65AC6}"/>
              </a:ext>
            </a:extLst>
          </p:cNvPr>
          <p:cNvSpPr/>
          <p:nvPr/>
        </p:nvSpPr>
        <p:spPr>
          <a:xfrm>
            <a:off x="653400" y="3171335"/>
            <a:ext cx="3230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lnSpc>
                <a:spcPts val="1533"/>
              </a:lnSpc>
              <a:defRPr/>
            </a:pPr>
            <a:r>
              <a:rPr lang="en-US" sz="12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PhD Physics, Royal Holloway, University of London; five years developing the UK quantum-computing ecosystem at Oxford's Department of Physics; Chief Quantum Officer, Entangled Positions.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3BC98600-2190-B8DD-73B0-4C1AF5D8B709}"/>
              </a:ext>
            </a:extLst>
          </p:cNvPr>
          <p:cNvSpPr/>
          <p:nvPr/>
        </p:nvSpPr>
        <p:spPr>
          <a:xfrm>
            <a:off x="4303776" y="1280160"/>
            <a:ext cx="3572256" cy="2255520"/>
          </a:xfrm>
          <a:prstGeom prst="roundRect">
            <a:avLst>
              <a:gd name="adj" fmla="val 3784"/>
            </a:avLst>
          </a:prstGeom>
          <a:solidFill>
            <a:srgbClr val="121A2E"/>
          </a:solidFill>
          <a:ln/>
        </p:spPr>
        <p:txBody>
          <a:bodyPr/>
          <a:lstStyle/>
          <a:p>
            <a:pPr defTabSz="1219170">
              <a:defRPr/>
            </a:pPr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F69FF276-64B2-4544-BD8C-163542083B36}"/>
              </a:ext>
            </a:extLst>
          </p:cNvPr>
          <p:cNvSpPr/>
          <p:nvPr/>
        </p:nvSpPr>
        <p:spPr>
          <a:xfrm>
            <a:off x="4486656" y="1438656"/>
            <a:ext cx="1048512" cy="1048512"/>
          </a:xfrm>
          <a:prstGeom prst="roundRect">
            <a:avLst>
              <a:gd name="adj" fmla="val 6977"/>
            </a:avLst>
          </a:prstGeom>
          <a:solidFill>
            <a:srgbClr val="161F3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pPr defTabSz="1219170">
              <a:defRPr/>
            </a:pPr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2" name="Image Gregor" descr="images/headshots/gregor_bw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1040" y="1463040"/>
            <a:ext cx="999744" cy="999744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8A943E44-6847-5109-183B-567BAF48F412}"/>
              </a:ext>
            </a:extLst>
          </p:cNvPr>
          <p:cNvSpPr/>
          <p:nvPr/>
        </p:nvSpPr>
        <p:spPr>
          <a:xfrm>
            <a:off x="5644896" y="1487424"/>
            <a:ext cx="2231136" cy="1048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lnSpc>
                <a:spcPts val="1933"/>
              </a:lnSpc>
              <a:defRPr/>
            </a:pPr>
            <a:r>
              <a:rPr lang="en-US" sz="166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Gregor Barry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2DB729CB-8286-AE27-4729-895C2CA593E6}"/>
              </a:ext>
            </a:extLst>
          </p:cNvPr>
          <p:cNvSpPr/>
          <p:nvPr/>
        </p:nvSpPr>
        <p:spPr>
          <a:xfrm>
            <a:off x="4333808" y="2548128"/>
            <a:ext cx="323088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lnSpc>
                <a:spcPts val="1600"/>
              </a:lnSpc>
              <a:defRPr/>
            </a:pPr>
            <a:r>
              <a:rPr lang="en-US" sz="1267" dirty="0">
                <a:solidFill>
                  <a:srgbClr val="00E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498A4FF0-FB27-19D4-861E-CF04D7BC03EE}"/>
              </a:ext>
            </a:extLst>
          </p:cNvPr>
          <p:cNvSpPr/>
          <p:nvPr/>
        </p:nvSpPr>
        <p:spPr>
          <a:xfrm>
            <a:off x="4319208" y="3017513"/>
            <a:ext cx="3468107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lnSpc>
                <a:spcPts val="1533"/>
              </a:lnSpc>
              <a:defRPr/>
            </a:pPr>
            <a:r>
              <a:rPr lang="en-US" sz="12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Director, Accenture, Toronto — twelve years in enterprise relationships, Fortune 500 clients. 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27E154C0-9088-B6B2-0CB2-51A193BB771C}"/>
              </a:ext>
            </a:extLst>
          </p:cNvPr>
          <p:cNvSpPr/>
          <p:nvPr/>
        </p:nvSpPr>
        <p:spPr>
          <a:xfrm>
            <a:off x="7997952" y="1280160"/>
            <a:ext cx="3572256" cy="2255520"/>
          </a:xfrm>
          <a:prstGeom prst="roundRect">
            <a:avLst>
              <a:gd name="adj" fmla="val 3784"/>
            </a:avLst>
          </a:prstGeom>
          <a:solidFill>
            <a:srgbClr val="121A2E"/>
          </a:solidFill>
          <a:ln/>
        </p:spPr>
        <p:txBody>
          <a:bodyPr/>
          <a:lstStyle/>
          <a:p>
            <a:pPr defTabSz="1219170">
              <a:defRPr/>
            </a:pPr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FF74D253-9B3E-1DAF-D999-9E1F2F75BCA8}"/>
              </a:ext>
            </a:extLst>
          </p:cNvPr>
          <p:cNvSpPr/>
          <p:nvPr/>
        </p:nvSpPr>
        <p:spPr>
          <a:xfrm>
            <a:off x="8180832" y="1438656"/>
            <a:ext cx="1048512" cy="1048512"/>
          </a:xfrm>
          <a:prstGeom prst="roundRect">
            <a:avLst>
              <a:gd name="adj" fmla="val 6977"/>
            </a:avLst>
          </a:prstGeom>
          <a:solidFill>
            <a:srgbClr val="161F3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pPr defTabSz="1219170">
              <a:defRPr/>
            </a:pPr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3" name="Image Rick" descr="images/headshots/rick_bw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5216" y="1463040"/>
            <a:ext cx="999744" cy="999744"/>
          </a:xfrm>
          <a:prstGeom prst="rect">
            <a:avLst/>
          </a:prstGeom>
        </p:spPr>
      </p:pic>
      <p:sp>
        <p:nvSpPr>
          <p:cNvPr id="18" name="Text 13">
            <a:extLst>
              <a:ext uri="{FF2B5EF4-FFF2-40B4-BE49-F238E27FC236}">
                <a16:creationId xmlns:a16="http://schemas.microsoft.com/office/drawing/2014/main" id="{D4E48DB9-1AC7-5EBC-10F8-514EA67259EC}"/>
              </a:ext>
            </a:extLst>
          </p:cNvPr>
          <p:cNvSpPr/>
          <p:nvPr/>
        </p:nvSpPr>
        <p:spPr>
          <a:xfrm>
            <a:off x="9326880" y="1481087"/>
            <a:ext cx="2097024" cy="1048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lnSpc>
                <a:spcPts val="1933"/>
              </a:lnSpc>
              <a:defRPr/>
            </a:pPr>
            <a:r>
              <a:rPr lang="en-US" sz="166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Rick Jahnke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FFB9BC76-32C9-352D-71AF-79482231E2FA}"/>
              </a:ext>
            </a:extLst>
          </p:cNvPr>
          <p:cNvSpPr/>
          <p:nvPr/>
        </p:nvSpPr>
        <p:spPr>
          <a:xfrm>
            <a:off x="8070621" y="2544477"/>
            <a:ext cx="323088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lnSpc>
                <a:spcPts val="1600"/>
              </a:lnSpc>
              <a:defRPr/>
            </a:pPr>
            <a:r>
              <a:rPr lang="en-US" sz="1267" dirty="0">
                <a:solidFill>
                  <a:srgbClr val="00E5C0"/>
                </a:solidFill>
                <a:latin typeface="Arial" pitchFamily="34" charset="0"/>
                <a:cs typeface="Arial" pitchFamily="34" charset="-120"/>
              </a:rPr>
              <a:t>Principal Engineer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DC34C3F5-BBDF-608C-D0B7-47D149F279FE}"/>
              </a:ext>
            </a:extLst>
          </p:cNvPr>
          <p:cNvSpPr/>
          <p:nvPr/>
        </p:nvSpPr>
        <p:spPr>
          <a:xfrm>
            <a:off x="8063487" y="2942221"/>
            <a:ext cx="3499587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lnSpc>
                <a:spcPts val="1533"/>
              </a:lnSpc>
              <a:defRPr/>
            </a:pPr>
            <a:r>
              <a:rPr lang="en-US" sz="12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 years embedded systems engineering; Director of Engineering, Galixsys Networks; named inventor, embedded network patents.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1">
            <a:extLst>
              <a:ext uri="{FF2B5EF4-FFF2-40B4-BE49-F238E27FC236}">
                <a16:creationId xmlns:a16="http://schemas.microsoft.com/office/drawing/2014/main" id="{18E3DF7D-08CF-8B2D-29C8-8C9A2E4B2BC4}"/>
              </a:ext>
            </a:extLst>
          </p:cNvPr>
          <p:cNvSpPr/>
          <p:nvPr/>
        </p:nvSpPr>
        <p:spPr>
          <a:xfrm>
            <a:off x="4303776" y="3706368"/>
            <a:ext cx="3572256" cy="2255520"/>
          </a:xfrm>
          <a:prstGeom prst="roundRect">
            <a:avLst>
              <a:gd name="adj" fmla="val 3784"/>
            </a:avLst>
          </a:prstGeom>
          <a:solidFill>
            <a:srgbClr val="121A2E"/>
          </a:solidFill>
          <a:ln/>
        </p:spPr>
        <p:txBody>
          <a:bodyPr/>
          <a:lstStyle/>
          <a:p>
            <a:pPr defTabSz="1219170">
              <a:defRPr/>
            </a:pPr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14CA3395-3C26-8619-80F7-D0FE1E50F9E0}"/>
              </a:ext>
            </a:extLst>
          </p:cNvPr>
          <p:cNvSpPr/>
          <p:nvPr/>
        </p:nvSpPr>
        <p:spPr>
          <a:xfrm>
            <a:off x="4486656" y="3945175"/>
            <a:ext cx="1048512" cy="1048512"/>
          </a:xfrm>
          <a:prstGeom prst="roundRect">
            <a:avLst>
              <a:gd name="adj" fmla="val 6977"/>
            </a:avLst>
          </a:prstGeom>
          <a:solidFill>
            <a:srgbClr val="161F3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pPr defTabSz="1219170">
              <a:defRPr/>
            </a:pPr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4" name="Image Ruben" descr="images/headshots/ruben_bw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1040" y="3969559"/>
            <a:ext cx="999744" cy="999744"/>
          </a:xfrm>
          <a:prstGeom prst="rect">
            <a:avLst/>
          </a:prstGeom>
        </p:spPr>
      </p:pic>
      <p:sp>
        <p:nvSpPr>
          <p:cNvPr id="24" name="Text 18">
            <a:extLst>
              <a:ext uri="{FF2B5EF4-FFF2-40B4-BE49-F238E27FC236}">
                <a16:creationId xmlns:a16="http://schemas.microsoft.com/office/drawing/2014/main" id="{1D27604C-D8C3-81D6-4C83-B1B27969CFB3}"/>
              </a:ext>
            </a:extLst>
          </p:cNvPr>
          <p:cNvSpPr/>
          <p:nvPr/>
        </p:nvSpPr>
        <p:spPr>
          <a:xfrm>
            <a:off x="5620512" y="4030519"/>
            <a:ext cx="2097024" cy="1048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lnSpc>
                <a:spcPts val="1933"/>
              </a:lnSpc>
              <a:defRPr/>
            </a:pPr>
            <a:r>
              <a:rPr lang="en-US" sz="166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Ruben Marroquin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0A65C95A-F873-AC94-37CB-D80E00582D0D}"/>
              </a:ext>
            </a:extLst>
          </p:cNvPr>
          <p:cNvSpPr/>
          <p:nvPr/>
        </p:nvSpPr>
        <p:spPr>
          <a:xfrm>
            <a:off x="4355919" y="5018965"/>
            <a:ext cx="3756032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lnSpc>
                <a:spcPts val="1600"/>
              </a:lnSpc>
              <a:defRPr/>
            </a:pPr>
            <a:r>
              <a:rPr lang="en-US" sz="1267" dirty="0">
                <a:solidFill>
                  <a:srgbClr val="00E5C0"/>
                </a:solidFill>
                <a:latin typeface="Arial" pitchFamily="34" charset="0"/>
                <a:cs typeface="Arial" pitchFamily="34" charset="-120"/>
              </a:rPr>
              <a:t>Senior Engineer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E39057D4-A29C-348B-BEC5-7A973DC81F2F}"/>
              </a:ext>
            </a:extLst>
          </p:cNvPr>
          <p:cNvSpPr/>
          <p:nvPr/>
        </p:nvSpPr>
        <p:spPr>
          <a:xfrm>
            <a:off x="4343808" y="5519444"/>
            <a:ext cx="3230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lnSpc>
                <a:spcPts val="1533"/>
              </a:lnSpc>
              <a:defRPr/>
            </a:pPr>
            <a:r>
              <a:rPr lang="en-US" sz="12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FPGA/embedded systems engineer, Intel and Altera; patent strategy, hardware applications engineering; BS EE, Rice University.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2">
            <a:extLst>
              <a:ext uri="{FF2B5EF4-FFF2-40B4-BE49-F238E27FC236}">
                <a16:creationId xmlns:a16="http://schemas.microsoft.com/office/drawing/2014/main" id="{DF171C7A-A743-778D-7788-7D90E7B0BCAF}"/>
              </a:ext>
            </a:extLst>
          </p:cNvPr>
          <p:cNvSpPr/>
          <p:nvPr/>
        </p:nvSpPr>
        <p:spPr>
          <a:xfrm>
            <a:off x="487680" y="6486144"/>
            <a:ext cx="24384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defRPr/>
            </a:pPr>
            <a:r>
              <a:rPr lang="en-US" sz="12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qAI37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Text 0">
            <a:extLst>
              <a:ext uri="{FF2B5EF4-FFF2-40B4-BE49-F238E27FC236}">
                <a16:creationId xmlns:a16="http://schemas.microsoft.com/office/drawing/2014/main" id="{56297115-B14D-7D7D-7E16-74C5D80B9F28}"/>
              </a:ext>
            </a:extLst>
          </p:cNvPr>
          <p:cNvSpPr/>
          <p:nvPr/>
        </p:nvSpPr>
        <p:spPr>
          <a:xfrm>
            <a:off x="768096" y="146959"/>
            <a:ext cx="487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B4BE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Text 12">
            <a:extLst>
              <a:ext uri="{FF2B5EF4-FFF2-40B4-BE49-F238E27FC236}">
                <a16:creationId xmlns:a16="http://schemas.microsoft.com/office/drawing/2014/main" id="{8272AB53-69A0-B3F4-149A-DCC609ED6E71}"/>
              </a:ext>
            </a:extLst>
          </p:cNvPr>
          <p:cNvSpPr/>
          <p:nvPr/>
        </p:nvSpPr>
        <p:spPr>
          <a:xfrm>
            <a:off x="9290304" y="6437376"/>
            <a:ext cx="2438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00" dirty="0">
                <a:solidFill>
                  <a:srgbClr val="B4BE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A8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596291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06755"/>
            <a:ext cx="10972800" cy="45134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933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Advisory Board &amp; Scientific Associations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160938"/>
            <a:ext cx="2121408" cy="2000000"/>
          </a:xfrm>
          <a:prstGeom prst="roundRect">
            <a:avLst>
              <a:gd name="adj" fmla="val 5000"/>
            </a:avLst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79798" y="1294272"/>
            <a:ext cx="693333" cy="693333"/>
          </a:xfrm>
          <a:prstGeom prst="roundRect">
            <a:avLst>
              <a:gd name="adj" fmla="val 10000"/>
            </a:avLst>
          </a:prstGeom>
          <a:noFill/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sethu_ram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4" y="1312938"/>
            <a:ext cx="656000" cy="65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26720" y="2047605"/>
            <a:ext cx="199948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Sethu Raman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720" y="2340938"/>
            <a:ext cx="1999488" cy="164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67" b="0" i="0" u="none" strike="noStrike" kern="1200" cap="none" spc="0" normalizeH="0" baseline="0" noProof="0">
                <a:ln>
                  <a:noFill/>
                </a:ln>
                <a:solidFill>
                  <a:srgbClr val="00E5C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Technical Advisor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20" y="2580939"/>
            <a:ext cx="1999488" cy="2733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ts val="106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7" b="0" i="0" u="none" strike="noStrike" kern="1200" cap="none" spc="0" normalizeH="0" baseline="0" noProof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Former Distinguished Engineer, Apple &amp; Microsoft.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48128" y="1160938"/>
            <a:ext cx="2121408" cy="2000000"/>
          </a:xfrm>
          <a:prstGeom prst="roundRect">
            <a:avLst>
              <a:gd name="adj" fmla="val 5000"/>
            </a:avLst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262166" y="1294272"/>
            <a:ext cx="693333" cy="693333"/>
          </a:xfrm>
          <a:prstGeom prst="roundRect">
            <a:avLst>
              <a:gd name="adj" fmla="val 10000"/>
            </a:avLst>
          </a:prstGeom>
          <a:noFill/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10" descr="robbie_bac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0832" y="1312938"/>
            <a:ext cx="656000" cy="656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609088" y="2047605"/>
            <a:ext cx="199948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Robbie Bach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9088" y="2340938"/>
            <a:ext cx="1999488" cy="164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67" b="0" i="0" u="none" strike="noStrike" kern="1200" cap="none" spc="0" normalizeH="0" baseline="0" noProof="0">
                <a:ln>
                  <a:noFill/>
                </a:ln>
                <a:solidFill>
                  <a:srgbClr val="00E5C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Strategic Advisor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9088" y="2580939"/>
            <a:ext cx="1999488" cy="2733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ts val="106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7" b="0" i="0" u="none" strike="noStrike" kern="1200" cap="none" spc="0" normalizeH="0" baseline="0" noProof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Former Microsoft President, Entertainment &amp; Devices.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30496" y="1160938"/>
            <a:ext cx="2121408" cy="2000000"/>
          </a:xfrm>
          <a:prstGeom prst="roundRect">
            <a:avLst>
              <a:gd name="adj" fmla="val 5000"/>
            </a:avLst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444534" y="1294272"/>
            <a:ext cx="693333" cy="693333"/>
          </a:xfrm>
          <a:prstGeom prst="roundRect">
            <a:avLst>
              <a:gd name="adj" fmla="val 10000"/>
            </a:avLst>
          </a:prstGeom>
          <a:noFill/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Picture 16" descr="chris_phillip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3200" y="1312938"/>
            <a:ext cx="656000" cy="656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791456" y="2047605"/>
            <a:ext cx="199948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Chris Phillips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91456" y="2340938"/>
            <a:ext cx="1999488" cy="164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67" b="0" i="0" u="none" strike="noStrike" kern="1200" cap="none" spc="0" normalizeH="0" baseline="0" noProof="0">
                <a:ln>
                  <a:noFill/>
                </a:ln>
                <a:solidFill>
                  <a:srgbClr val="00E5C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Strategic Advisor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91456" y="2580938"/>
            <a:ext cx="1999488" cy="2733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ts val="106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7" b="0" i="0" u="none" strike="noStrike" kern="1200" cap="none" spc="0" normalizeH="0" baseline="0" noProof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Global tech strategist. Former Microsoft SVP, Server &amp; Tools.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12864" y="1160938"/>
            <a:ext cx="2121408" cy="2000000"/>
          </a:xfrm>
          <a:prstGeom prst="roundRect">
            <a:avLst>
              <a:gd name="adj" fmla="val 5000"/>
            </a:avLst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626902" y="1294272"/>
            <a:ext cx="693333" cy="693333"/>
          </a:xfrm>
          <a:prstGeom prst="roundRect">
            <a:avLst>
              <a:gd name="adj" fmla="val 10000"/>
            </a:avLst>
          </a:prstGeom>
          <a:noFill/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Picture 22" descr="bill_lain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5568" y="1312938"/>
            <a:ext cx="656000" cy="656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973824" y="2047605"/>
            <a:ext cx="199948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Bill Laing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73824" y="2340938"/>
            <a:ext cx="1999488" cy="164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67" b="0" i="0" u="none" strike="noStrike" kern="1200" cap="none" spc="0" normalizeH="0" baseline="0" noProof="0">
                <a:ln>
                  <a:noFill/>
                </a:ln>
                <a:solidFill>
                  <a:srgbClr val="00E5C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Strategic Advisor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73824" y="2580939"/>
            <a:ext cx="1999488" cy="4144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ts val="106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7" b="0" i="0" u="none" strike="noStrike" kern="1200" cap="none" spc="0" normalizeH="0" baseline="0" noProof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Technical lead, large-scale systems. Former Microsoft CVP, Windows Server &amp; Azure.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95232" y="1160938"/>
            <a:ext cx="2121408" cy="2000000"/>
          </a:xfrm>
          <a:prstGeom prst="roundRect">
            <a:avLst>
              <a:gd name="adj" fmla="val 5000"/>
            </a:avLst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9809270" y="1294272"/>
            <a:ext cx="693333" cy="693333"/>
          </a:xfrm>
          <a:prstGeom prst="roundRect">
            <a:avLst>
              <a:gd name="adj" fmla="val 10000"/>
            </a:avLst>
          </a:prstGeom>
          <a:noFill/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" name="Picture 28" descr="darren_huston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7936" y="1312938"/>
            <a:ext cx="656000" cy="6560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156192" y="2047605"/>
            <a:ext cx="199948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Darren Huston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56192" y="2340938"/>
            <a:ext cx="1999488" cy="164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67" b="0" i="0" u="none" strike="noStrike" kern="1200" cap="none" spc="0" normalizeH="0" baseline="0" noProof="0">
                <a:ln>
                  <a:noFill/>
                </a:ln>
                <a:solidFill>
                  <a:srgbClr val="00E5C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Strategic Advisor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56192" y="2580938"/>
            <a:ext cx="1999488" cy="2733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ts val="106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7" b="0" i="0" u="none" strike="noStrike" kern="1200" cap="none" spc="0" normalizeH="0" baseline="0" noProof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Former CEO, Booking.com. Former President, Microsoft Japan.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3221898"/>
            <a:ext cx="2121408" cy="2000000"/>
          </a:xfrm>
          <a:prstGeom prst="roundRect">
            <a:avLst>
              <a:gd name="adj" fmla="val 5000"/>
            </a:avLst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1079798" y="3355232"/>
            <a:ext cx="693333" cy="693333"/>
          </a:xfrm>
          <a:prstGeom prst="roundRect">
            <a:avLst>
              <a:gd name="adj" fmla="val 10000"/>
            </a:avLst>
          </a:prstGeom>
          <a:noFill/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5" name="Picture 34" descr="steve_guggenheimer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8464" y="3373898"/>
            <a:ext cx="656000" cy="656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26720" y="4108565"/>
            <a:ext cx="199948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Steve Guggenheimer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6720" y="4401898"/>
            <a:ext cx="1999488" cy="164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67" b="0" i="0" u="none" strike="noStrike" kern="1200" cap="none" spc="0" normalizeH="0" baseline="0" noProof="0">
                <a:ln>
                  <a:noFill/>
                </a:ln>
                <a:solidFill>
                  <a:srgbClr val="00E5C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Strategic Advisor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6720" y="4641899"/>
            <a:ext cx="1999488" cy="2733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ts val="106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7" b="0" i="0" u="none" strike="noStrike" kern="1200" cap="none" spc="0" normalizeH="0" baseline="0" noProof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Former Microsoft CVP, Developer Platform.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548128" y="3221898"/>
            <a:ext cx="2121408" cy="2000000"/>
          </a:xfrm>
          <a:prstGeom prst="roundRect">
            <a:avLst>
              <a:gd name="adj" fmla="val 5000"/>
            </a:avLst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3262166" y="3355232"/>
            <a:ext cx="693333" cy="693333"/>
          </a:xfrm>
          <a:prstGeom prst="roundRect">
            <a:avLst>
              <a:gd name="adj" fmla="val 10000"/>
            </a:avLst>
          </a:prstGeom>
          <a:noFill/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1" name="Picture 40" descr="john_williams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80832" y="3373898"/>
            <a:ext cx="656000" cy="6560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2609088" y="4108565"/>
            <a:ext cx="199948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John Williams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09088" y="4401898"/>
            <a:ext cx="1999488" cy="164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67" b="0" i="0" u="none" strike="noStrike" kern="1200" cap="none" spc="0" normalizeH="0" baseline="0" noProof="0">
                <a:ln>
                  <a:noFill/>
                </a:ln>
                <a:solidFill>
                  <a:srgbClr val="00E5C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Strategic Advisor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09088" y="4641898"/>
            <a:ext cx="1999488" cy="2733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ts val="106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7" b="0" i="0" u="none" strike="noStrike" kern="1200" cap="none" spc="0" normalizeH="0" baseline="0" noProof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Former architect and executive at AMD, Cray, Microsoft, and Google.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730496" y="3221898"/>
            <a:ext cx="2121408" cy="2000000"/>
          </a:xfrm>
          <a:prstGeom prst="roundRect">
            <a:avLst>
              <a:gd name="adj" fmla="val 5000"/>
            </a:avLst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5444534" y="3355232"/>
            <a:ext cx="693333" cy="693333"/>
          </a:xfrm>
          <a:prstGeom prst="roundRect">
            <a:avLst>
              <a:gd name="adj" fmla="val 10000"/>
            </a:avLst>
          </a:prstGeom>
          <a:noFill/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7" name="Picture 46" descr="luke_minford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63200" y="3373898"/>
            <a:ext cx="656000" cy="6560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4791456" y="4108565"/>
            <a:ext cx="199948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Luke Minford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91456" y="4401898"/>
            <a:ext cx="1999488" cy="164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67" b="0" i="0" u="none" strike="noStrike" kern="1200" cap="none" spc="0" normalizeH="0" baseline="0" noProof="0">
                <a:ln>
                  <a:noFill/>
                </a:ln>
                <a:solidFill>
                  <a:srgbClr val="00E5C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IP &amp; Legal Advisor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91456" y="4641899"/>
            <a:ext cx="1999488" cy="2733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ts val="106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7" b="0" i="0" u="none" strike="noStrike" kern="1200" cap="none" spc="0" normalizeH="0" baseline="0" noProof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CEO, Rouse UK — co-leading global IP house.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912864" y="3221898"/>
            <a:ext cx="2121408" cy="2000000"/>
          </a:xfrm>
          <a:prstGeom prst="roundRect">
            <a:avLst>
              <a:gd name="adj" fmla="val 5000"/>
            </a:avLst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7626902" y="3355232"/>
            <a:ext cx="693333" cy="693333"/>
          </a:xfrm>
          <a:prstGeom prst="roundRect">
            <a:avLst>
              <a:gd name="adj" fmla="val 10000"/>
            </a:avLst>
          </a:prstGeom>
          <a:noFill/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3" name="Picture 52" descr="richard_wood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45568" y="3373898"/>
            <a:ext cx="656000" cy="65600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6973824" y="4108565"/>
            <a:ext cx="199948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Richard Wood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73824" y="4401898"/>
            <a:ext cx="1999488" cy="164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67" b="0" i="0" u="none" strike="noStrike" kern="1200" cap="none" spc="0" normalizeH="0" baseline="0" noProof="0">
                <a:ln>
                  <a:noFill/>
                </a:ln>
                <a:solidFill>
                  <a:srgbClr val="00E5C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AI Investment Principal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73824" y="4641899"/>
            <a:ext cx="1999488" cy="2733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ts val="106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7" b="0" i="0" u="none" strike="noStrike" kern="1200" cap="none" spc="0" normalizeH="0" baseline="0" noProof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First Hill Partners — strategic fundraising advisor.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095232" y="3221898"/>
            <a:ext cx="2121408" cy="2000000"/>
          </a:xfrm>
          <a:prstGeom prst="roundRect">
            <a:avLst>
              <a:gd name="adj" fmla="val 5000"/>
            </a:avLst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9809270" y="3355232"/>
            <a:ext cx="693333" cy="693333"/>
          </a:xfrm>
          <a:prstGeom prst="roundRect">
            <a:avLst>
              <a:gd name="adj" fmla="val 10000"/>
            </a:avLst>
          </a:prstGeom>
          <a:noFill/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9" name="Picture 58" descr="shawn_bohnert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27936" y="3373898"/>
            <a:ext cx="656000" cy="65600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9156192" y="4108565"/>
            <a:ext cx="199948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Shawn Bohnert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56192" y="4401898"/>
            <a:ext cx="1999488" cy="164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67" b="0" i="0" u="none" strike="noStrike" kern="1200" cap="none" spc="0" normalizeH="0" baseline="0" noProof="0">
                <a:ln>
                  <a:noFill/>
                </a:ln>
                <a:solidFill>
                  <a:srgbClr val="00E5C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Board Member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56192" y="4641899"/>
            <a:ext cx="1999488" cy="2733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ts val="106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7" b="0" i="0" u="none" strike="noStrike" kern="1200" cap="none" spc="0" normalizeH="0" baseline="0" noProof="0">
                <a:ln>
                  <a:noFill/>
                </a:ln>
                <a:solidFill>
                  <a:srgbClr val="8A93A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Early investor and SAFE mechanics advisor.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87680" y="6546211"/>
            <a:ext cx="24384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7A8295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qAI37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485120" y="6546211"/>
            <a:ext cx="12192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7A8295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SLIDE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429</Words>
  <Application>Microsoft Office PowerPoint</Application>
  <PresentationFormat>Widescreen</PresentationFormat>
  <Paragraphs>73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Calibri</vt:lpstr>
      <vt:lpstr>1_Office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Michelle Holtmann</dc:creator>
  <cp:lastModifiedBy>Michelle Holtmann</cp:lastModifiedBy>
  <cp:revision>1</cp:revision>
  <dcterms:created xsi:type="dcterms:W3CDTF">2026-08-26T18:55:56Z</dcterms:created>
  <dcterms:modified xsi:type="dcterms:W3CDTF">2026-08-26T18:58:15Z</dcterms:modified>
</cp:coreProperties>
</file>